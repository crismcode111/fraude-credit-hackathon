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Oswald"/>
      <p:regular r:id="rId19"/>
      <p:bold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4111ca1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54111ca1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4111ca1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54111ca1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9b7d24c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9b7d24c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34a0650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34a0650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c655e87b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c655e87b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c655e87b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c655e87b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cb9336fa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cb9336fa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cb9336fa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cb9336fa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cb9336fa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cb9336fa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cb9336fa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cb9336fa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54111ca19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54111ca1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CrisMcode111/fraude-credit-hackath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2496725"/>
            <a:ext cx="9144000" cy="264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1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4034750" y="1546400"/>
            <a:ext cx="1011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2532425" y="1342425"/>
            <a:ext cx="1856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078975" y="2103800"/>
            <a:ext cx="4098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0" y="0"/>
            <a:ext cx="9144000" cy="24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</a:t>
            </a:r>
            <a:r>
              <a:rPr lang="en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&lt;</a:t>
            </a:r>
            <a:r>
              <a:rPr b="1" i="1" lang="en" sz="2800">
                <a:solidFill>
                  <a:srgbClr val="F0506E"/>
                </a:solidFill>
              </a:rPr>
              <a:t>Credit Card Fraud Detection And Prevention</a:t>
            </a:r>
            <a:r>
              <a:rPr lang="en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&gt;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lang="en" sz="2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&lt;Cristina Moussoungedi, </a:t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Adel Zitouni, </a:t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Catherine Maameri&gt;</a:t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650" y="286517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Card Fraud Detection Hackathon 🕵️‍♀️</a:t>
            </a:r>
            <a:endParaRPr/>
          </a:p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b="1" lang="en" sz="1200">
                <a:solidFill>
                  <a:schemeClr val="dk1"/>
                </a:solidFill>
              </a:rPr>
              <a:t>The goal of the project is to </a:t>
            </a:r>
            <a:r>
              <a:rPr lang="en" sz="1200">
                <a:solidFill>
                  <a:schemeClr val="dk1"/>
                </a:solidFill>
              </a:rPr>
              <a:t>Analyze the </a:t>
            </a:r>
            <a:r>
              <a:rPr b="1" lang="en" sz="1200">
                <a:solidFill>
                  <a:schemeClr val="dk1"/>
                </a:solidFill>
              </a:rPr>
              <a:t>Credit Card Fraud Detection</a:t>
            </a:r>
            <a:r>
              <a:rPr lang="en" sz="1200">
                <a:solidFill>
                  <a:schemeClr val="dk1"/>
                </a:solidFill>
              </a:rPr>
              <a:t> dataset to build a model that accurately identifies </a:t>
            </a:r>
            <a:r>
              <a:rPr b="1" lang="en" sz="1200">
                <a:solidFill>
                  <a:schemeClr val="dk1"/>
                </a:solidFill>
              </a:rPr>
              <a:t>fraudulent transactions </a:t>
            </a:r>
            <a:r>
              <a:rPr lang="en" sz="1200">
                <a:solidFill>
                  <a:schemeClr val="dk1"/>
                </a:solidFill>
              </a:rPr>
              <a:t>for a financial institution.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600"/>
              </a:spcBef>
              <a:spcAft>
                <a:spcPts val="0"/>
              </a:spcAft>
              <a:buSzPts val="1900"/>
              <a:buChar char="➢"/>
            </a:pPr>
            <a:r>
              <a:rPr lang="en" sz="1200">
                <a:solidFill>
                  <a:schemeClr val="dk1"/>
                </a:solidFill>
              </a:rPr>
              <a:t>This dataset captures </a:t>
            </a:r>
            <a:r>
              <a:rPr b="1" lang="en" sz="1200">
                <a:solidFill>
                  <a:schemeClr val="dk1"/>
                </a:solidFill>
              </a:rPr>
              <a:t>credit card transactions</a:t>
            </a:r>
            <a:r>
              <a:rPr lang="en" sz="1200">
                <a:solidFill>
                  <a:schemeClr val="dk1"/>
                </a:solidFill>
              </a:rPr>
              <a:t> made by </a:t>
            </a:r>
            <a:r>
              <a:rPr b="1" lang="en" sz="1200">
                <a:solidFill>
                  <a:schemeClr val="dk1"/>
                </a:solidFill>
              </a:rPr>
              <a:t>European cardholders</a:t>
            </a:r>
            <a:r>
              <a:rPr lang="en" sz="1200">
                <a:solidFill>
                  <a:schemeClr val="dk1"/>
                </a:solidFill>
              </a:rPr>
              <a:t> in </a:t>
            </a:r>
            <a:r>
              <a:rPr b="1" lang="en" sz="1200">
                <a:solidFill>
                  <a:schemeClr val="dk1"/>
                </a:solidFill>
              </a:rPr>
              <a:t>September 2013</a:t>
            </a:r>
            <a:r>
              <a:rPr lang="en" sz="1200">
                <a:solidFill>
                  <a:schemeClr val="dk1"/>
                </a:solidFill>
              </a:rPr>
              <a:t> over a </a:t>
            </a:r>
            <a:r>
              <a:rPr b="1" lang="en" sz="1200">
                <a:solidFill>
                  <a:schemeClr val="dk1"/>
                </a:solidFill>
              </a:rPr>
              <a:t>two-day period</a:t>
            </a:r>
            <a:r>
              <a:rPr lang="en" sz="1200">
                <a:solidFill>
                  <a:schemeClr val="dk1"/>
                </a:solidFill>
              </a:rPr>
              <a:t>. Most input features (V1 to V28) are the result of a </a:t>
            </a:r>
            <a:r>
              <a:rPr b="1" lang="en" sz="1200">
                <a:solidFill>
                  <a:schemeClr val="dk1"/>
                </a:solidFill>
              </a:rPr>
              <a:t>PCA transformation</a:t>
            </a:r>
            <a:r>
              <a:rPr lang="en" sz="1200">
                <a:solidFill>
                  <a:schemeClr val="dk1"/>
                </a:solidFill>
              </a:rPr>
              <a:t> due to confidentiality;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700"/>
              <a:buChar char="➢"/>
            </a:pPr>
            <a:r>
              <a:rPr b="1" lang="en" sz="1200">
                <a:solidFill>
                  <a:schemeClr val="dk1"/>
                </a:solidFill>
              </a:rPr>
              <a:t>Key Challenge:</a:t>
            </a:r>
            <a:r>
              <a:rPr lang="en" sz="1200">
                <a:solidFill>
                  <a:schemeClr val="dk1"/>
                </a:solidFill>
              </a:rPr>
              <a:t> The dataset is </a:t>
            </a:r>
            <a:r>
              <a:rPr b="1" lang="en" sz="1200">
                <a:solidFill>
                  <a:schemeClr val="dk1"/>
                </a:solidFill>
              </a:rPr>
              <a:t>highly imbalanced</a:t>
            </a:r>
            <a:r>
              <a:rPr lang="en" sz="1200">
                <a:solidFill>
                  <a:schemeClr val="dk1"/>
                </a:solidFill>
              </a:rPr>
              <a:t> (fraud is rare), requiring robust analysis to minimize </a:t>
            </a:r>
            <a:r>
              <a:rPr b="1" lang="en" sz="1200">
                <a:solidFill>
                  <a:schemeClr val="dk1"/>
                </a:solidFill>
              </a:rPr>
              <a:t>false positives</a:t>
            </a:r>
            <a:r>
              <a:rPr lang="en" sz="1200">
                <a:solidFill>
                  <a:schemeClr val="dk1"/>
                </a:solidFill>
              </a:rPr>
              <a:t>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 for this project: </a:t>
            </a:r>
            <a:endParaRPr/>
          </a:p>
          <a:p>
            <a:pPr indent="-307975" lvl="0" marL="457200" rtl="0" algn="l">
              <a:spcBef>
                <a:spcPts val="160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lang="en" sz="1250">
                <a:solidFill>
                  <a:srgbClr val="00FF00"/>
                </a:solidFill>
              </a:rPr>
              <a:t>: </a:t>
            </a:r>
            <a:r>
              <a:rPr lang="en" sz="1250">
                <a:solidFill>
                  <a:srgbClr val="E3E3E3"/>
                </a:solidFill>
              </a:rPr>
              <a:t>For data manipulation and analysis.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numpy</a:t>
            </a:r>
            <a:r>
              <a:rPr lang="en" sz="1250">
                <a:solidFill>
                  <a:srgbClr val="00FF00"/>
                </a:solidFill>
              </a:rPr>
              <a:t>: </a:t>
            </a:r>
            <a:r>
              <a:rPr lang="en" sz="1250">
                <a:solidFill>
                  <a:srgbClr val="E3E3E3"/>
                </a:solidFill>
              </a:rPr>
              <a:t>For numerical operations.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matplotlib.pyplot</a:t>
            </a:r>
            <a:r>
              <a:rPr lang="en" sz="1250">
                <a:solidFill>
                  <a:srgbClr val="00FF00"/>
                </a:solidFill>
              </a:rPr>
              <a:t>:</a:t>
            </a:r>
            <a:r>
              <a:rPr lang="en" sz="1250">
                <a:solidFill>
                  <a:srgbClr val="E3E3E3"/>
                </a:solidFill>
              </a:rPr>
              <a:t> For creating static, interactive, and animated visualizations.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seaborn</a:t>
            </a:r>
            <a:r>
              <a:rPr lang="en" sz="1250">
                <a:solidFill>
                  <a:srgbClr val="00FF00"/>
                </a:solidFill>
              </a:rPr>
              <a:t>: </a:t>
            </a:r>
            <a:r>
              <a:rPr lang="en" sz="1250">
                <a:solidFill>
                  <a:srgbClr val="E3E3E3"/>
                </a:solidFill>
              </a:rPr>
              <a:t>For making statistical graphics based on matplotlib.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sklearn.model_selection</a:t>
            </a:r>
            <a:r>
              <a:rPr lang="en" sz="1250">
                <a:solidFill>
                  <a:srgbClr val="00FF00"/>
                </a:solidFill>
              </a:rPr>
              <a:t>:</a:t>
            </a:r>
            <a:r>
              <a:rPr lang="en" sz="1250">
                <a:solidFill>
                  <a:srgbClr val="E3E3E3"/>
                </a:solidFill>
              </a:rPr>
              <a:t> Specifically </a:t>
            </a:r>
            <a:r>
              <a:rPr lang="en" sz="1250">
                <a:solidFill>
                  <a:srgbClr val="E3E3E3"/>
                </a:solidFill>
                <a:latin typeface="Roboto Mono"/>
                <a:ea typeface="Roboto Mono"/>
                <a:cs typeface="Roboto Mono"/>
                <a:sym typeface="Roboto Mono"/>
              </a:rPr>
              <a:t>train_test_split</a:t>
            </a:r>
            <a:r>
              <a:rPr lang="en" sz="1250">
                <a:solidFill>
                  <a:srgbClr val="E3E3E3"/>
                </a:solidFill>
              </a:rPr>
              <a:t> for splitting data into training and testing sets.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sklearn.preprocessing</a:t>
            </a:r>
            <a:r>
              <a:rPr lang="en" sz="1250">
                <a:solidFill>
                  <a:srgbClr val="00FF00"/>
                </a:solidFill>
              </a:rPr>
              <a:t>:</a:t>
            </a:r>
            <a:r>
              <a:rPr lang="en" sz="1250">
                <a:solidFill>
                  <a:srgbClr val="E3E3E3"/>
                </a:solidFill>
              </a:rPr>
              <a:t> Specifically </a:t>
            </a:r>
            <a:r>
              <a:rPr lang="en" sz="1250">
                <a:solidFill>
                  <a:srgbClr val="E3E3E3"/>
                </a:solidFill>
                <a:latin typeface="Roboto Mono"/>
                <a:ea typeface="Roboto Mono"/>
                <a:cs typeface="Roboto Mono"/>
                <a:sym typeface="Roboto Mono"/>
              </a:rPr>
              <a:t>StandardScaler</a:t>
            </a:r>
            <a:r>
              <a:rPr lang="en" sz="1250">
                <a:solidFill>
                  <a:srgbClr val="E3E3E3"/>
                </a:solidFill>
              </a:rPr>
              <a:t> for standardizing features.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imblearn.over_sampling</a:t>
            </a:r>
            <a:r>
              <a:rPr lang="en" sz="1250">
                <a:solidFill>
                  <a:srgbClr val="E3E3E3"/>
                </a:solidFill>
              </a:rPr>
              <a:t>: Specifically </a:t>
            </a:r>
            <a:r>
              <a:rPr lang="en" sz="1250">
                <a:solidFill>
                  <a:srgbClr val="E3E3E3"/>
                </a:solidFill>
                <a:latin typeface="Roboto Mono"/>
                <a:ea typeface="Roboto Mono"/>
                <a:cs typeface="Roboto Mono"/>
                <a:sym typeface="Roboto Mono"/>
              </a:rPr>
              <a:t>SMOTE</a:t>
            </a:r>
            <a:r>
              <a:rPr lang="en" sz="1250">
                <a:solidFill>
                  <a:srgbClr val="E3E3E3"/>
                </a:solidFill>
              </a:rPr>
              <a:t> for oversampling the minority class to handle imbalance.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sklearn.linear_model</a:t>
            </a:r>
            <a:r>
              <a:rPr lang="en" sz="1250">
                <a:solidFill>
                  <a:srgbClr val="00FF00"/>
                </a:solidFill>
              </a:rPr>
              <a:t>: </a:t>
            </a:r>
            <a:r>
              <a:rPr lang="en" sz="1250">
                <a:solidFill>
                  <a:srgbClr val="E3E3E3"/>
                </a:solidFill>
              </a:rPr>
              <a:t>Specifically </a:t>
            </a:r>
            <a:r>
              <a:rPr lang="en" sz="1250">
                <a:solidFill>
                  <a:srgbClr val="E3E3E3"/>
                </a:solidFill>
                <a:latin typeface="Roboto Mono"/>
                <a:ea typeface="Roboto Mono"/>
                <a:cs typeface="Roboto Mono"/>
                <a:sym typeface="Roboto Mono"/>
              </a:rPr>
              <a:t>LogisticRegression </a:t>
            </a:r>
            <a:r>
              <a:rPr lang="en" sz="1250">
                <a:solidFill>
                  <a:srgbClr val="E3E3E3"/>
                </a:solidFill>
              </a:rPr>
              <a:t>for building a logistic regression model.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sklearn.metrics</a:t>
            </a:r>
            <a:r>
              <a:rPr lang="en" sz="1250">
                <a:solidFill>
                  <a:srgbClr val="00FF00"/>
                </a:solidFill>
              </a:rPr>
              <a:t>:</a:t>
            </a:r>
            <a:r>
              <a:rPr lang="en" sz="1250">
                <a:solidFill>
                  <a:srgbClr val="E3E3E3"/>
                </a:solidFill>
              </a:rPr>
              <a:t> For evaluating model performance, including </a:t>
            </a:r>
            <a:r>
              <a:rPr lang="en" sz="1250">
                <a:solidFill>
                  <a:srgbClr val="E3E3E3"/>
                </a:solidFill>
                <a:latin typeface="Roboto Mono"/>
                <a:ea typeface="Roboto Mono"/>
                <a:cs typeface="Roboto Mono"/>
                <a:sym typeface="Roboto Mono"/>
              </a:rPr>
              <a:t>classification_report</a:t>
            </a:r>
            <a:r>
              <a:rPr lang="en" sz="1250">
                <a:solidFill>
                  <a:srgbClr val="E3E3E3"/>
                </a:solidFill>
              </a:rPr>
              <a:t>, </a:t>
            </a:r>
            <a:r>
              <a:rPr lang="en" sz="1250">
                <a:solidFill>
                  <a:srgbClr val="E3E3E3"/>
                </a:solidFill>
                <a:latin typeface="Roboto Mono"/>
                <a:ea typeface="Roboto Mono"/>
                <a:cs typeface="Roboto Mono"/>
                <a:sym typeface="Roboto Mono"/>
              </a:rPr>
              <a:t>confusion_matrix</a:t>
            </a:r>
            <a:r>
              <a:rPr lang="en" sz="1250">
                <a:solidFill>
                  <a:srgbClr val="E3E3E3"/>
                </a:solidFill>
              </a:rPr>
              <a:t>, </a:t>
            </a:r>
            <a:r>
              <a:rPr lang="en" sz="1250">
                <a:solidFill>
                  <a:srgbClr val="E3E3E3"/>
                </a:solidFill>
                <a:latin typeface="Roboto Mono"/>
                <a:ea typeface="Roboto Mono"/>
                <a:cs typeface="Roboto Mono"/>
                <a:sym typeface="Roboto Mono"/>
              </a:rPr>
              <a:t>roc_auc_score</a:t>
            </a:r>
            <a:r>
              <a:rPr lang="en" sz="1250">
                <a:solidFill>
                  <a:srgbClr val="E3E3E3"/>
                </a:solidFill>
              </a:rPr>
              <a:t>, and </a:t>
            </a:r>
            <a:r>
              <a:rPr lang="en" sz="1250">
                <a:solidFill>
                  <a:srgbClr val="E3E3E3"/>
                </a:solidFill>
                <a:latin typeface="Roboto Mono"/>
                <a:ea typeface="Roboto Mono"/>
                <a:cs typeface="Roboto Mono"/>
                <a:sym typeface="Roboto Mono"/>
              </a:rPr>
              <a:t>roc_curve</a:t>
            </a:r>
            <a:r>
              <a:rPr lang="en" sz="1250">
                <a:solidFill>
                  <a:srgbClr val="E3E3E3"/>
                </a:solidFill>
              </a:rPr>
              <a:t>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scipy.stats</a:t>
            </a:r>
            <a:r>
              <a:rPr lang="en" sz="1250">
                <a:solidFill>
                  <a:srgbClr val="00FF00"/>
                </a:solidFill>
              </a:rPr>
              <a:t>: </a:t>
            </a:r>
            <a:r>
              <a:rPr lang="en" sz="1250">
                <a:solidFill>
                  <a:srgbClr val="E3E3E3"/>
                </a:solidFill>
              </a:rPr>
              <a:t>For statistical functions, specifically </a:t>
            </a:r>
            <a:r>
              <a:rPr lang="en" sz="1250">
                <a:solidFill>
                  <a:srgbClr val="E3E3E3"/>
                </a:solidFill>
                <a:latin typeface="Roboto Mono"/>
                <a:ea typeface="Roboto Mono"/>
                <a:cs typeface="Roboto Mono"/>
                <a:sym typeface="Roboto Mono"/>
              </a:rPr>
              <a:t>ttest_ind</a:t>
            </a:r>
            <a:r>
              <a:rPr lang="en" sz="1250">
                <a:solidFill>
                  <a:srgbClr val="E3E3E3"/>
                </a:solidFill>
              </a:rPr>
              <a:t> for independent samples t-tests.</a:t>
            </a:r>
            <a:endParaRPr sz="12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list</a:t>
            </a:r>
            <a:endParaRPr/>
          </a:p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spcBef>
                <a:spcPts val="600"/>
              </a:spcBef>
              <a:spcAft>
                <a:spcPts val="0"/>
              </a:spcAft>
              <a:buClr>
                <a:srgbClr val="E3E3E3"/>
              </a:buClr>
              <a:buSzPts val="1450"/>
              <a:buChar char="●"/>
            </a:pPr>
            <a:r>
              <a:rPr b="1" lang="en" sz="1450">
                <a:solidFill>
                  <a:srgbClr val="00FF00"/>
                </a:solidFill>
              </a:rPr>
              <a:t>Data Loading and Initial Exploration</a:t>
            </a:r>
            <a:r>
              <a:rPr lang="en" sz="1450">
                <a:solidFill>
                  <a:srgbClr val="00FF00"/>
                </a:solidFill>
              </a:rPr>
              <a:t>:</a:t>
            </a:r>
            <a:r>
              <a:rPr lang="en" sz="1450">
                <a:solidFill>
                  <a:srgbClr val="E3E3E3"/>
                </a:solidFill>
              </a:rPr>
              <a:t> </a:t>
            </a:r>
            <a:r>
              <a:rPr lang="en" sz="1250">
                <a:solidFill>
                  <a:srgbClr val="E3E3E3"/>
                </a:solidFill>
              </a:rPr>
              <a:t>Loaded the credit card transaction data, examined basic information, and checked for duplicates.</a:t>
            </a:r>
            <a:endParaRPr sz="1250">
              <a:solidFill>
                <a:srgbClr val="E3E3E3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50"/>
              <a:buChar char="●"/>
            </a:pPr>
            <a:r>
              <a:rPr b="1" lang="en" sz="1450">
                <a:solidFill>
                  <a:srgbClr val="00FF00"/>
                </a:solidFill>
              </a:rPr>
              <a:t>Duplicate Handling</a:t>
            </a:r>
            <a:r>
              <a:rPr lang="en" sz="1450">
                <a:solidFill>
                  <a:srgbClr val="00FF00"/>
                </a:solidFill>
              </a:rPr>
              <a:t>:</a:t>
            </a:r>
            <a:r>
              <a:rPr lang="en" sz="1450">
                <a:solidFill>
                  <a:srgbClr val="E3E3E3"/>
                </a:solidFill>
              </a:rPr>
              <a:t> </a:t>
            </a:r>
            <a:r>
              <a:rPr lang="en" sz="1250">
                <a:solidFill>
                  <a:srgbClr val="E3E3E3"/>
                </a:solidFill>
              </a:rPr>
              <a:t>Identified and removed duplicate transaction rows.</a:t>
            </a:r>
            <a:endParaRPr sz="1250">
              <a:solidFill>
                <a:srgbClr val="E3E3E3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50"/>
              <a:buChar char="●"/>
            </a:pPr>
            <a:r>
              <a:rPr b="1" lang="en" sz="1450">
                <a:solidFill>
                  <a:srgbClr val="00FF00"/>
                </a:solidFill>
              </a:rPr>
              <a:t>Data Preprocessing and Scaling</a:t>
            </a:r>
            <a:r>
              <a:rPr lang="en" sz="1450">
                <a:solidFill>
                  <a:srgbClr val="00FF00"/>
                </a:solidFill>
              </a:rPr>
              <a:t>:</a:t>
            </a:r>
            <a:r>
              <a:rPr lang="en" sz="1450">
                <a:solidFill>
                  <a:srgbClr val="E3E3E3"/>
                </a:solidFill>
              </a:rPr>
              <a:t> </a:t>
            </a:r>
            <a:r>
              <a:rPr lang="en" sz="1250">
                <a:solidFill>
                  <a:srgbClr val="E3E3E3"/>
                </a:solidFill>
              </a:rPr>
              <a:t>Separated features and the target variable, and standardized the 'Time' and 'Amount' features.</a:t>
            </a:r>
            <a:endParaRPr sz="1250">
              <a:solidFill>
                <a:srgbClr val="E3E3E3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50"/>
              <a:buChar char="●"/>
            </a:pPr>
            <a:r>
              <a:rPr b="1" lang="en" sz="1450">
                <a:solidFill>
                  <a:srgbClr val="00FF00"/>
                </a:solidFill>
              </a:rPr>
              <a:t>Addressing Class Imbalance</a:t>
            </a:r>
            <a:r>
              <a:rPr lang="en" sz="1450">
                <a:solidFill>
                  <a:srgbClr val="00FF00"/>
                </a:solidFill>
              </a:rPr>
              <a:t>:</a:t>
            </a:r>
            <a:r>
              <a:rPr lang="en" sz="1450">
                <a:solidFill>
                  <a:srgbClr val="E3E3E3"/>
                </a:solidFill>
              </a:rPr>
              <a:t> </a:t>
            </a:r>
            <a:r>
              <a:rPr lang="en" sz="1250">
                <a:solidFill>
                  <a:srgbClr val="E3E3E3"/>
                </a:solidFill>
              </a:rPr>
              <a:t>Applied SMOTE to balance the classes.</a:t>
            </a:r>
            <a:endParaRPr sz="1250">
              <a:solidFill>
                <a:srgbClr val="E3E3E3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50"/>
              <a:buChar char="●"/>
            </a:pPr>
            <a:r>
              <a:rPr b="1" lang="en" sz="1450">
                <a:solidFill>
                  <a:srgbClr val="00FF00"/>
                </a:solidFill>
              </a:rPr>
              <a:t>Data Visualization</a:t>
            </a:r>
            <a:r>
              <a:rPr lang="en" sz="1450">
                <a:solidFill>
                  <a:srgbClr val="00FF00"/>
                </a:solidFill>
              </a:rPr>
              <a:t>: </a:t>
            </a:r>
            <a:r>
              <a:rPr lang="en" sz="1250">
                <a:solidFill>
                  <a:srgbClr val="E3E3E3"/>
                </a:solidFill>
              </a:rPr>
              <a:t>Visualized class distribution, Time vs Class, and Amount vs Class.</a:t>
            </a:r>
            <a:endParaRPr sz="1250">
              <a:solidFill>
                <a:srgbClr val="E3E3E3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50"/>
              <a:buChar char="●"/>
            </a:pPr>
            <a:r>
              <a:rPr b="1" lang="en" sz="1450">
                <a:solidFill>
                  <a:srgbClr val="00FF00"/>
                </a:solidFill>
              </a:rPr>
              <a:t>Statistical Analysis</a:t>
            </a:r>
            <a:r>
              <a:rPr lang="en" sz="1450">
                <a:solidFill>
                  <a:srgbClr val="00FF00"/>
                </a:solidFill>
              </a:rPr>
              <a:t>: </a:t>
            </a:r>
            <a:r>
              <a:rPr lang="en" sz="1250">
                <a:solidFill>
                  <a:srgbClr val="E3E3E3"/>
                </a:solidFill>
              </a:rPr>
              <a:t>Performed t-tests and correlation analysis to identify significant features.</a:t>
            </a:r>
            <a:endParaRPr sz="1250">
              <a:solidFill>
                <a:srgbClr val="E3E3E3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50"/>
              <a:buChar char="●"/>
            </a:pPr>
            <a:r>
              <a:rPr b="1" lang="en" sz="1450">
                <a:solidFill>
                  <a:srgbClr val="00FF00"/>
                </a:solidFill>
              </a:rPr>
              <a:t>Predictive Modeling</a:t>
            </a:r>
            <a:r>
              <a:rPr lang="en" sz="1450">
                <a:solidFill>
                  <a:srgbClr val="00FF00"/>
                </a:solidFill>
              </a:rPr>
              <a:t>:</a:t>
            </a:r>
            <a:r>
              <a:rPr lang="en" sz="1450">
                <a:solidFill>
                  <a:srgbClr val="E3E3E3"/>
                </a:solidFill>
              </a:rPr>
              <a:t> </a:t>
            </a:r>
            <a:r>
              <a:rPr lang="en" sz="1250">
                <a:solidFill>
                  <a:srgbClr val="E3E3E3"/>
                </a:solidFill>
              </a:rPr>
              <a:t>Split the data, trained a Logistic Regression model, evaluated it, and analyzed the impact of different probability thresholds.</a:t>
            </a:r>
            <a:endParaRPr sz="1250">
              <a:solidFill>
                <a:srgbClr val="E3E3E3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50"/>
              <a:buChar char="●"/>
            </a:pPr>
            <a:r>
              <a:rPr b="1" lang="en" sz="1450">
                <a:solidFill>
                  <a:srgbClr val="00FF00"/>
                </a:solidFill>
              </a:rPr>
              <a:t>Visualization of Results</a:t>
            </a:r>
            <a:r>
              <a:rPr lang="en" sz="1450">
                <a:solidFill>
                  <a:srgbClr val="00FF00"/>
                </a:solidFill>
              </a:rPr>
              <a:t>: </a:t>
            </a:r>
            <a:r>
              <a:rPr lang="en" sz="1250">
                <a:solidFill>
                  <a:srgbClr val="E3E3E3"/>
                </a:solidFill>
              </a:rPr>
              <a:t>Visualized the confusion matrix, precision-recall curve, and ROC curve.</a:t>
            </a:r>
            <a:endParaRPr sz="1250">
              <a:solidFill>
                <a:srgbClr val="E3E3E3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50"/>
              <a:buChar char="●"/>
            </a:pPr>
            <a:r>
              <a:rPr b="1" lang="en" sz="1450">
                <a:solidFill>
                  <a:srgbClr val="00FF00"/>
                </a:solidFill>
              </a:rPr>
              <a:t>Bonus</a:t>
            </a:r>
            <a:r>
              <a:rPr lang="en" sz="1450">
                <a:solidFill>
                  <a:srgbClr val="00FF00"/>
                </a:solidFill>
              </a:rPr>
              <a:t>:</a:t>
            </a:r>
            <a:r>
              <a:rPr lang="en" sz="1450">
                <a:solidFill>
                  <a:srgbClr val="E3E3E3"/>
                </a:solidFill>
              </a:rPr>
              <a:t> </a:t>
            </a:r>
            <a:r>
              <a:rPr lang="en" sz="1250">
                <a:solidFill>
                  <a:srgbClr val="E3E3E3"/>
                </a:solidFill>
              </a:rPr>
              <a:t>Outlined a fraud prevention strategy.</a:t>
            </a:r>
            <a:endParaRPr sz="1250">
              <a:solidFill>
                <a:srgbClr val="E3E3E3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Difficulties you managed to overcome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311700" y="2660775"/>
            <a:ext cx="82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What you are proud of during this hackathon (features or management)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29"/>
          <p:cNvSpPr txBox="1"/>
          <p:nvPr>
            <p:ph idx="4294967295" type="body"/>
          </p:nvPr>
        </p:nvSpPr>
        <p:spPr>
          <a:xfrm>
            <a:off x="311700" y="3294475"/>
            <a:ext cx="8520600" cy="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Team work, Agility and resilience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Achieving the project despite technical difficulties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Practice the knowledge </a:t>
            </a:r>
            <a:r>
              <a:rPr lang="en"/>
              <a:t>acquire</a:t>
            </a:r>
            <a:r>
              <a:rPr lang="en"/>
              <a:t> in a specific real world topic (Fraud detection)</a:t>
            </a:r>
            <a:endParaRPr/>
          </a:p>
        </p:txBody>
      </p:sp>
      <p:sp>
        <p:nvSpPr>
          <p:cNvPr id="130" name="Google Shape;130;p29"/>
          <p:cNvSpPr txBox="1"/>
          <p:nvPr>
            <p:ph idx="4294967295" type="body"/>
          </p:nvPr>
        </p:nvSpPr>
        <p:spPr>
          <a:xfrm>
            <a:off x="311700" y="752875"/>
            <a:ext cx="852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Short timing to achieve the </a:t>
            </a:r>
            <a:r>
              <a:rPr lang="en"/>
              <a:t>project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New ways of working to apprehend (github in collaboration way)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Step 1 : </a:t>
            </a:r>
            <a:r>
              <a:rPr b="1" lang="en" sz="2150">
                <a:solidFill>
                  <a:schemeClr val="dk1"/>
                </a:solidFill>
              </a:rPr>
              <a:t>Exploratory Data Analysis (EDA) 1/2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6" name="Google Shape;1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550" y="752875"/>
            <a:ext cx="6579011" cy="40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Step 1 : </a:t>
            </a:r>
            <a:r>
              <a:rPr b="1" lang="en" sz="2150">
                <a:solidFill>
                  <a:schemeClr val="dk1"/>
                </a:solidFill>
              </a:rPr>
              <a:t>Exploratory Data Analysis (EDA) 2/2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2" name="Google Shape;1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50" y="982800"/>
            <a:ext cx="3732209" cy="28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4850" y="982800"/>
            <a:ext cx="3607450" cy="28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Step 2 : </a:t>
            </a:r>
            <a:r>
              <a:rPr lang="en" sz="2450">
                <a:solidFill>
                  <a:srgbClr val="E3E3E3"/>
                </a:solidFill>
              </a:rPr>
              <a:t>Data Preprocessing</a:t>
            </a:r>
            <a:endParaRPr sz="24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400" y="752875"/>
            <a:ext cx="5349205" cy="40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Step 3 : </a:t>
            </a:r>
            <a:r>
              <a:rPr b="1" lang="en" sz="2650">
                <a:solidFill>
                  <a:srgbClr val="E3E3E3"/>
                </a:solidFill>
              </a:rPr>
              <a:t>Feature Engineering</a:t>
            </a:r>
            <a:endParaRPr b="1" sz="26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213" y="752875"/>
            <a:ext cx="5091566" cy="40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Step 4 : </a:t>
            </a:r>
            <a:r>
              <a:rPr b="1" lang="en" sz="2650">
                <a:solidFill>
                  <a:srgbClr val="E3E3E3"/>
                </a:solidFill>
              </a:rPr>
              <a:t>Predictive Modeling</a:t>
            </a:r>
            <a:endParaRPr b="1" sz="26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50">
              <a:solidFill>
                <a:srgbClr val="E3E3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i="1" sz="1750">
              <a:solidFill>
                <a:srgbClr val="E3E3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i="1" sz="17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34"/>
          <p:cNvSpPr/>
          <p:nvPr/>
        </p:nvSpPr>
        <p:spPr>
          <a:xfrm>
            <a:off x="361950" y="876300"/>
            <a:ext cx="8048700" cy="3524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1" lang="en" sz="1750">
                <a:solidFill>
                  <a:srgbClr val="00FF00"/>
                </a:solidFill>
              </a:rPr>
              <a:t>Logistic Regression</a:t>
            </a:r>
            <a:endParaRPr b="1" sz="12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3E3E3"/>
                </a:solidFill>
              </a:rPr>
              <a:t>In summary:</a:t>
            </a:r>
            <a:endParaRPr b="1" sz="1200">
              <a:solidFill>
                <a:srgbClr val="E3E3E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E3E3E3"/>
              </a:buClr>
              <a:buSzPts val="1200"/>
              <a:buChar char="●"/>
            </a:pPr>
            <a:r>
              <a:rPr lang="en" sz="1200">
                <a:solidFill>
                  <a:srgbClr val="E3E3E3"/>
                </a:solidFill>
              </a:rPr>
              <a:t>Good fraud detection requires a balance between accuracy and recall, because every false positive or false negative has a cost.</a:t>
            </a:r>
            <a:endParaRPr sz="1200">
              <a:solidFill>
                <a:srgbClr val="E3E3E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00"/>
              <a:buChar char="●"/>
            </a:pPr>
            <a:r>
              <a:rPr lang="en" sz="1200">
                <a:solidFill>
                  <a:srgbClr val="E3E3E3"/>
                </a:solidFill>
              </a:rPr>
              <a:t>Logistic regression, although simple, can give a good compromise and often serves as a solid baseline.</a:t>
            </a:r>
            <a:endParaRPr sz="1200">
              <a:solidFill>
                <a:srgbClr val="E3E3E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00"/>
              <a:buChar char="●"/>
            </a:pPr>
            <a:r>
              <a:rPr lang="en" sz="1200">
                <a:solidFill>
                  <a:srgbClr val="E3E3E3"/>
                </a:solidFill>
              </a:rPr>
              <a:t>It is often useful to adjust the classification threshold (by default 0.5) to find this optimal compromise according to company policy.</a:t>
            </a:r>
            <a:endParaRPr sz="1200">
              <a:solidFill>
                <a:srgbClr val="E3E3E3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Step 5 : </a:t>
            </a:r>
            <a:r>
              <a:rPr b="1" lang="en" sz="2650">
                <a:solidFill>
                  <a:srgbClr val="E3E3E3"/>
                </a:solidFill>
              </a:rPr>
              <a:t>Visualization 1/2</a:t>
            </a:r>
            <a:endParaRPr b="1" sz="26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50">
              <a:solidFill>
                <a:srgbClr val="E3E3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i="1" sz="1750">
              <a:solidFill>
                <a:srgbClr val="E3E3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i="1" sz="17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7" name="Google Shape;16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0" y="829075"/>
            <a:ext cx="4737819" cy="40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Step 5 : </a:t>
            </a:r>
            <a:r>
              <a:rPr b="1" lang="en" sz="2650">
                <a:solidFill>
                  <a:srgbClr val="E3E3E3"/>
                </a:solidFill>
              </a:rPr>
              <a:t>Visualization 2/2</a:t>
            </a:r>
            <a:endParaRPr b="1" sz="26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50">
              <a:solidFill>
                <a:srgbClr val="E3E3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i="1" sz="1750">
              <a:solidFill>
                <a:srgbClr val="E3E3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i="1" sz="17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125" y="895750"/>
            <a:ext cx="561975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179" name="Google Shape;17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https://github.com/CrisMcode111/fraude-credit-hackathon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2-mn video link (CAN BE 3 or 4 minutes max) - from LOOM or Google Drive (must be public) →</a:t>
            </a:r>
            <a:r>
              <a:rPr i="1" lang="en">
                <a:solidFill>
                  <a:srgbClr val="FF00FF"/>
                </a:solidFill>
              </a:rPr>
              <a:t> to do during the weekend only</a:t>
            </a:r>
            <a:endParaRPr i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